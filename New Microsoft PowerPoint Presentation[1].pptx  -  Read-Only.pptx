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79" r:id="rId9"/>
    <p:sldId id="264" r:id="rId10"/>
    <p:sldId id="265" r:id="rId11"/>
    <p:sldId id="278" r:id="rId12"/>
    <p:sldId id="267" r:id="rId13"/>
    <p:sldId id="266" r:id="rId14"/>
    <p:sldId id="268" r:id="rId15"/>
    <p:sldId id="280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694C4-D74A-48C0-9D5B-885F39DC3CD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384B5-8D03-414C-BCEA-4D139E337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8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384B5-8D03-414C-BCEA-4D139E3377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0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A261-FD96-6341-C432-FFD2B10A2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C692F-306E-E93D-A597-4E739852F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1A2B-4FB9-2ADD-6683-36A73858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3FF05-A4DE-3C9A-F563-42994EB3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35C4C-D820-8979-8DFB-B91DED64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9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6FD6-5038-A6E7-5490-3D779E97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0C9D-742A-AF6E-9978-5A484B467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F5A9F-3A30-4828-1E05-231D4F00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A326-5B08-3C45-A3DB-DA26E266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16780-1CFB-B198-2AB1-D9784B02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8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6EFD-DECE-959B-453F-5A7AE9B7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CF41B-ED99-F0FC-6BA2-EFA516C1C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9AAF3-C526-C7B7-C38E-44CDFCE1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CACA5-C5DE-8414-A0DC-D7B643F0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A8C45-6B83-5EB0-479E-30B8F2D3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9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21EE-F4A2-169D-0312-C5E125C2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0D52-B247-46CD-DB20-E8BDA8397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1D354-C7E1-3427-A987-F05F668E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972C0-99CF-A13C-5377-C76314A2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26643-1CA9-2967-D57D-C65794A1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F04DA-5951-13DF-3235-5272A352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7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5642-446C-A01D-9E72-3BFC9B2D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A58C6-CEA7-A84E-E7E3-3C4B1BA5D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1C9C8-BF94-1EDD-B4C0-CE61CF39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5A7F-3B2F-FAEA-5E14-E04873ED4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2CCE6E-D8DC-A7D8-8EE9-1B47F71F8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E0C1FC-9489-E1F6-3E5E-99C3379F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DA8BB-0AA7-0181-C62B-AAD4F65E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33808-2BE8-3D96-5DCA-98332628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1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AC77-A11B-05BC-3BE0-3D0C77DA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E2380-66C3-B344-DD5C-EE9AC218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B41AE-26D1-1A69-C255-0B8152EF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DA967-60A4-C81C-A827-0018AD97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0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03418-EE41-1164-61F8-F0009978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6DFD3-EC0F-448C-666C-4162AB2D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4BF8B-181A-A0B7-161E-90D14E9E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7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917A-57D8-835A-EDD2-F8E24A71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C549-E602-25CB-AC37-B5921BFA7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A9B0C-3B1D-4885-6466-FAF68DF3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87798-6C18-1179-9018-C98338B8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0D424-753E-8FBF-79BB-C48A34C3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E713E-F543-B6EE-534A-709F7DCE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8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E97-620E-77D8-BBB2-C4AF3A32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F9FBC-CCBE-34FE-5F7F-B90DCDF4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963CF-5E88-43A3-72B5-4F88BE23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CCD03-5CF0-4AD4-987D-7D2B36BB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93D32-99C0-F385-EC02-BB7544CB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B6744-BC89-53BC-0561-FFE87F11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A382-0EFB-EF1F-87AD-CA375BEE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1C8CC-1142-EBAB-7823-38EBA5B77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B8818-A842-71D3-3DDF-2CD160EC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2247E-E590-96AB-03EB-3F517150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89E63-C999-78BB-4DF6-0D9EAA04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8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5F5AB-88FC-6A7E-4F6D-D59D0640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7AB89-CA7B-BF39-6E81-451545B44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342F7-E97B-911C-1104-159E6DF1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C2A4-1CA1-AB96-8840-762B8B34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0FD6-18C8-B1CA-8AA6-96A6A75D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70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15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4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21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29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6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501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91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37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09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49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87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832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72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115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749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038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96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35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97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3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6DB55-67EF-CA16-B3F4-B18E6D5C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08A98-15E4-7758-942F-072061B7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2EE66-B6BF-6FF0-ABE4-7F58C1AB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F803-FCE4-46C3-BBE6-51A163AD682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53000-5155-C169-7DC2-4B235904E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A9A0-720F-D74D-BB61-2F2E4770C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CF3C7-BA4F-4F1F-938A-4FB5F001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6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cart.com/index.php?route=cms/dem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github.com/RewanAbdulkariem/DEPI-Final-Project" TargetMode="External"/><Relationship Id="rId5" Type="http://schemas.openxmlformats.org/officeDocument/2006/relationships/hyperlink" Target="https://rewankhaled2001.atlassian.net/jira/software/projects/OP/summary" TargetMode="External"/><Relationship Id="rId4" Type="http://schemas.openxmlformats.org/officeDocument/2006/relationships/hyperlink" Target="https://app.getpostman.com/join-team?invite_code=89e4f3c752dd7b11a0817c3d275a9c529294b8722f8a7bbb3d7a70af5b0450a7&amp;target_code=15721fbafa50c5e2b6b620d43a5a83e4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930" y="1303834"/>
            <a:ext cx="1075193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DEPI Graduation Project Presentation – 2025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20031" y="2447231"/>
            <a:ext cx="10751939" cy="3557984"/>
          </a:xfrm>
          <a:prstGeom prst="roundRect">
            <a:avLst>
              <a:gd name="adj" fmla="val 8674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2731" y="2459931"/>
            <a:ext cx="10726539" cy="5887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8510" y="2589709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Rewan Khaled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66259" y="2589709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sp>
        <p:nvSpPr>
          <p:cNvPr id="7" name="Shape 5"/>
          <p:cNvSpPr/>
          <p:nvPr/>
        </p:nvSpPr>
        <p:spPr>
          <a:xfrm>
            <a:off x="732731" y="3048695"/>
            <a:ext cx="10726539" cy="5887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8510" y="3178473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 err="1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Makarious</a:t>
            </a: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83" dirty="0" err="1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Zaytoun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6259" y="3178473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sp>
        <p:nvSpPr>
          <p:cNvPr id="10" name="Shape 8"/>
          <p:cNvSpPr/>
          <p:nvPr/>
        </p:nvSpPr>
        <p:spPr>
          <a:xfrm>
            <a:off x="732731" y="3637459"/>
            <a:ext cx="10726539" cy="5887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8510" y="3767237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Ahmed EL-Banna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6259" y="3767237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sp>
        <p:nvSpPr>
          <p:cNvPr id="13" name="Shape 11"/>
          <p:cNvSpPr/>
          <p:nvPr/>
        </p:nvSpPr>
        <p:spPr>
          <a:xfrm>
            <a:off x="732731" y="4226223"/>
            <a:ext cx="10726539" cy="5887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8510" y="4356001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Mohammed Henna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6259" y="4356001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sp>
        <p:nvSpPr>
          <p:cNvPr id="16" name="Shape 14"/>
          <p:cNvSpPr/>
          <p:nvPr/>
        </p:nvSpPr>
        <p:spPr>
          <a:xfrm>
            <a:off x="732731" y="4814987"/>
            <a:ext cx="10726539" cy="5887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8510" y="4944765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 err="1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Amany</a:t>
            </a: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 Ayman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6259" y="4944765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sp>
        <p:nvSpPr>
          <p:cNvPr id="19" name="Shape 17"/>
          <p:cNvSpPr/>
          <p:nvPr/>
        </p:nvSpPr>
        <p:spPr>
          <a:xfrm>
            <a:off x="732731" y="5403751"/>
            <a:ext cx="10726539" cy="5887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8510" y="5533529"/>
            <a:ext cx="491003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 err="1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Noha</a:t>
            </a:r>
            <a:r>
              <a:rPr lang="en-US" sz="1583" dirty="0">
                <a:solidFill>
                  <a:srgbClr val="E5E0DF"/>
                </a:solidFill>
                <a:latin typeface="Unbounded Bold" pitchFamily="2" charset="0"/>
                <a:ea typeface="Open Sans" pitchFamily="34" charset="-122"/>
                <a:cs typeface="Open Sans" pitchFamily="34" charset="-120"/>
              </a:rPr>
              <a:t> Mohammed</a:t>
            </a:r>
            <a:endParaRPr lang="en-US" sz="1583" dirty="0">
              <a:latin typeface="Unbounded Bold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6259" y="5533529"/>
            <a:ext cx="498733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endParaRPr lang="en-US" sz="1583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A78F90F-C9DF-0BED-9CA9-00264D4B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24" name="Picture 2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3D3FBAB-4442-BCA4-07A1-B916CC8CF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869" y="141934"/>
            <a:ext cx="914400" cy="840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31" y="1906588"/>
            <a:ext cx="5143500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</a:t>
            </a:r>
            <a:endParaRPr lang="en-US" sz="4042" dirty="0"/>
          </a:p>
        </p:txBody>
      </p:sp>
      <p:sp>
        <p:nvSpPr>
          <p:cNvPr id="3" name="Text 1"/>
          <p:cNvSpPr/>
          <p:nvPr/>
        </p:nvSpPr>
        <p:spPr>
          <a:xfrm>
            <a:off x="720031" y="2960985"/>
            <a:ext cx="10751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b="1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testing plays a critical role in ensuring the quality and functionality of software systems — especially in e-commerce platforms where user experience and trust are essential.</a:t>
            </a:r>
            <a:endParaRPr lang="en-US" sz="1583" dirty="0"/>
          </a:p>
        </p:txBody>
      </p:sp>
      <p:sp>
        <p:nvSpPr>
          <p:cNvPr id="4" name="Text 2"/>
          <p:cNvSpPr/>
          <p:nvPr/>
        </p:nvSpPr>
        <p:spPr>
          <a:xfrm>
            <a:off x="720031" y="3927971"/>
            <a:ext cx="3086100" cy="3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17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Our goal</a:t>
            </a:r>
            <a:endParaRPr lang="en-US" sz="2417" dirty="0"/>
          </a:p>
        </p:txBody>
      </p:sp>
      <p:sp>
        <p:nvSpPr>
          <p:cNvPr id="5" name="Text 3"/>
          <p:cNvSpPr/>
          <p:nvPr/>
        </p:nvSpPr>
        <p:spPr>
          <a:xfrm>
            <a:off x="720031" y="4622205"/>
            <a:ext cx="107519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to ensure the system is reliable</a:t>
            </a:r>
            <a:r>
              <a:rPr lang="ar-EG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make it performs well under different conditions.</a:t>
            </a:r>
            <a:endParaRPr lang="en-US" sz="1583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1E886-BC80-41DA-0C96-C7A1A8CB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8" name="Picture 7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0F84145-9BE0-DE37-1679-B6940BE2B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817" y="163400"/>
            <a:ext cx="5882183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OPEN CART?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83158" y="1262988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3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 Frontend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911879" y="1262987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3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Admin Panel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E0234-5B83-CAB4-E386-A7107437C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B5357BA-FFA2-97FB-6F40-A4933169D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A1A10D-5CC4-5077-5CFD-7874E1651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83" y="1654949"/>
            <a:ext cx="5130769" cy="5113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5E2E36-B544-8447-0776-9067A6E2E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879" y="1654949"/>
            <a:ext cx="5130769" cy="5119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642" y="1591470"/>
            <a:ext cx="5143500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Agile Approach</a:t>
            </a:r>
            <a:endParaRPr lang="en-US" sz="4042" dirty="0"/>
          </a:p>
        </p:txBody>
      </p:sp>
      <p:sp>
        <p:nvSpPr>
          <p:cNvPr id="3" name="Shape 1"/>
          <p:cNvSpPr/>
          <p:nvPr/>
        </p:nvSpPr>
        <p:spPr>
          <a:xfrm>
            <a:off x="720031" y="3956149"/>
            <a:ext cx="10751939" cy="50800"/>
          </a:xfrm>
          <a:prstGeom prst="roundRect">
            <a:avLst>
              <a:gd name="adj" fmla="val 6075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67707" y="3339059"/>
            <a:ext cx="50800" cy="617141"/>
          </a:xfrm>
          <a:prstGeom prst="roundRect">
            <a:avLst>
              <a:gd name="adj" fmla="val 6075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1730" y="3724722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38822" y="3763219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17" dirty="0"/>
          </a:p>
        </p:txBody>
      </p:sp>
      <p:sp>
        <p:nvSpPr>
          <p:cNvPr id="7" name="Text 5"/>
          <p:cNvSpPr/>
          <p:nvPr/>
        </p:nvSpPr>
        <p:spPr>
          <a:xfrm>
            <a:off x="1507332" y="2811761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Requirement Analysis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69470" y="3956100"/>
            <a:ext cx="50800" cy="617141"/>
          </a:xfrm>
          <a:prstGeom prst="roundRect">
            <a:avLst>
              <a:gd name="adj" fmla="val 6075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63493" y="3724722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0585" y="3763219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17" dirty="0"/>
          </a:p>
        </p:txBody>
      </p:sp>
      <p:sp>
        <p:nvSpPr>
          <p:cNvPr id="11" name="Text 9"/>
          <p:cNvSpPr/>
          <p:nvPr/>
        </p:nvSpPr>
        <p:spPr>
          <a:xfrm>
            <a:off x="3604121" y="4779070"/>
            <a:ext cx="278169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 Case Design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71333" y="3339059"/>
            <a:ext cx="50800" cy="617141"/>
          </a:xfrm>
          <a:prstGeom prst="roundRect">
            <a:avLst>
              <a:gd name="adj" fmla="val 6075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65355" y="3724722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2448" y="3763219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417" dirty="0"/>
          </a:p>
        </p:txBody>
      </p:sp>
      <p:sp>
        <p:nvSpPr>
          <p:cNvPr id="15" name="Text 13"/>
          <p:cNvSpPr/>
          <p:nvPr/>
        </p:nvSpPr>
        <p:spPr>
          <a:xfrm>
            <a:off x="5910957" y="2811761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 Execution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73096" y="3956100"/>
            <a:ext cx="50800" cy="617141"/>
          </a:xfrm>
          <a:prstGeom prst="roundRect">
            <a:avLst>
              <a:gd name="adj" fmla="val 60750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67119" y="3724722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44211" y="3763219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417" dirty="0"/>
          </a:p>
        </p:txBody>
      </p:sp>
      <p:sp>
        <p:nvSpPr>
          <p:cNvPr id="19" name="Text 17"/>
          <p:cNvSpPr/>
          <p:nvPr/>
        </p:nvSpPr>
        <p:spPr>
          <a:xfrm>
            <a:off x="8112720" y="4779070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Reporting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04BF27-BFF8-5A09-0411-92112AD21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22" name="Picture 2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01AAF9B-F6DB-7FAF-CB28-25E8F0839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543" y="2090539"/>
            <a:ext cx="1035595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TYPES OF TESTING PERFORMED</a:t>
            </a:r>
            <a:endParaRPr lang="en-US" sz="4042" dirty="0"/>
          </a:p>
        </p:txBody>
      </p:sp>
      <p:sp>
        <p:nvSpPr>
          <p:cNvPr id="3" name="Text 1"/>
          <p:cNvSpPr/>
          <p:nvPr/>
        </p:nvSpPr>
        <p:spPr>
          <a:xfrm>
            <a:off x="720031" y="3189883"/>
            <a:ext cx="107519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2800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20031" y="3591024"/>
            <a:ext cx="107519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2800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20031" y="3992166"/>
            <a:ext cx="107519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2800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Testing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0031" y="4393307"/>
            <a:ext cx="107519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583"/>
              </a:lnSpc>
              <a:buSzPct val="100000"/>
              <a:buChar char="•"/>
            </a:pPr>
            <a:r>
              <a:rPr lang="en-US" sz="2800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Automation Testing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F28ED-003B-B8CD-E26A-152FEB25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9" name="Picture 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28FBD442-C88B-881C-F54E-9F440656F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002" y="649685"/>
            <a:ext cx="4132235" cy="721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4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 plan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76950" y="1182985"/>
            <a:ext cx="38100" cy="5262662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33666" y="1332905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39694" y="1295649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17219" y="1234579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1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525760" y="1559421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Oct - 17 Oct </a:t>
            </a:r>
            <a:endParaRPr lang="en-US" sz="1167" dirty="0"/>
          </a:p>
        </p:txBody>
      </p:sp>
      <p:sp>
        <p:nvSpPr>
          <p:cNvPr id="8" name="Text 6"/>
          <p:cNvSpPr/>
          <p:nvPr/>
        </p:nvSpPr>
        <p:spPr>
          <a:xfrm>
            <a:off x="525760" y="1889819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Planning &amp; Environment Setup</a:t>
            </a:r>
            <a:endParaRPr lang="en-US" sz="1167" dirty="0"/>
          </a:p>
        </p:txBody>
      </p:sp>
      <p:sp>
        <p:nvSpPr>
          <p:cNvPr id="9" name="Shape 7"/>
          <p:cNvSpPr/>
          <p:nvPr/>
        </p:nvSpPr>
        <p:spPr>
          <a:xfrm>
            <a:off x="6057901" y="2234208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39694" y="2196951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96869" y="2135882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2</a:t>
            </a:r>
            <a:endParaRPr lang="en-US" sz="1458" dirty="0"/>
          </a:p>
        </p:txBody>
      </p:sp>
      <p:sp>
        <p:nvSpPr>
          <p:cNvPr id="12" name="Text 10"/>
          <p:cNvSpPr/>
          <p:nvPr/>
        </p:nvSpPr>
        <p:spPr>
          <a:xfrm>
            <a:off x="6696870" y="2460724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Oct - 24 Oct</a:t>
            </a:r>
            <a:endParaRPr lang="en-US" sz="1167" dirty="0"/>
          </a:p>
        </p:txBody>
      </p:sp>
      <p:sp>
        <p:nvSpPr>
          <p:cNvPr id="13" name="Text 11"/>
          <p:cNvSpPr/>
          <p:nvPr/>
        </p:nvSpPr>
        <p:spPr>
          <a:xfrm>
            <a:off x="6696870" y="2791123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Functional Testing</a:t>
            </a:r>
            <a:endParaRPr lang="en-US" sz="1167" dirty="0"/>
          </a:p>
        </p:txBody>
      </p:sp>
      <p:sp>
        <p:nvSpPr>
          <p:cNvPr id="14" name="Shape 12"/>
          <p:cNvSpPr/>
          <p:nvPr/>
        </p:nvSpPr>
        <p:spPr>
          <a:xfrm>
            <a:off x="5833666" y="3011091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9694" y="2973834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7219" y="2912765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3</a:t>
            </a:r>
            <a:endParaRPr lang="en-US" sz="1458" dirty="0"/>
          </a:p>
        </p:txBody>
      </p:sp>
      <p:sp>
        <p:nvSpPr>
          <p:cNvPr id="17" name="Text 15"/>
          <p:cNvSpPr/>
          <p:nvPr/>
        </p:nvSpPr>
        <p:spPr>
          <a:xfrm>
            <a:off x="525760" y="3237607"/>
            <a:ext cx="4969371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Oct - 31 OctAPI Testing</a:t>
            </a:r>
            <a:endParaRPr lang="en-US" sz="1167" dirty="0"/>
          </a:p>
        </p:txBody>
      </p:sp>
      <p:sp>
        <p:nvSpPr>
          <p:cNvPr id="18" name="Shape 16"/>
          <p:cNvSpPr/>
          <p:nvPr/>
        </p:nvSpPr>
        <p:spPr>
          <a:xfrm>
            <a:off x="6057901" y="3788073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9694" y="3750816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96869" y="3689747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4</a:t>
            </a:r>
            <a:endParaRPr lang="en-US" sz="1458" dirty="0"/>
          </a:p>
        </p:txBody>
      </p:sp>
      <p:sp>
        <p:nvSpPr>
          <p:cNvPr id="21" name="Text 19"/>
          <p:cNvSpPr/>
          <p:nvPr/>
        </p:nvSpPr>
        <p:spPr>
          <a:xfrm>
            <a:off x="6696870" y="4014589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Nov - 7 Nov</a:t>
            </a:r>
            <a:endParaRPr lang="en-US" sz="1167" dirty="0"/>
          </a:p>
        </p:txBody>
      </p:sp>
      <p:sp>
        <p:nvSpPr>
          <p:cNvPr id="22" name="Text 20"/>
          <p:cNvSpPr/>
          <p:nvPr/>
        </p:nvSpPr>
        <p:spPr>
          <a:xfrm>
            <a:off x="6696870" y="4344988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Testing</a:t>
            </a:r>
            <a:endParaRPr lang="en-US" sz="1167" dirty="0"/>
          </a:p>
        </p:txBody>
      </p:sp>
      <p:sp>
        <p:nvSpPr>
          <p:cNvPr id="23" name="Shape 21"/>
          <p:cNvSpPr/>
          <p:nvPr/>
        </p:nvSpPr>
        <p:spPr>
          <a:xfrm>
            <a:off x="5833666" y="4565055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9694" y="4527799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7219" y="4466729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5</a:t>
            </a:r>
            <a:endParaRPr lang="en-US" sz="1458" dirty="0"/>
          </a:p>
        </p:txBody>
      </p:sp>
      <p:sp>
        <p:nvSpPr>
          <p:cNvPr id="26" name="Text 24"/>
          <p:cNvSpPr/>
          <p:nvPr/>
        </p:nvSpPr>
        <p:spPr>
          <a:xfrm>
            <a:off x="525760" y="4791571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Nov - 21 Nov</a:t>
            </a:r>
            <a:endParaRPr lang="en-US" sz="1167" dirty="0"/>
          </a:p>
        </p:txBody>
      </p:sp>
      <p:sp>
        <p:nvSpPr>
          <p:cNvPr id="27" name="Text 25"/>
          <p:cNvSpPr/>
          <p:nvPr/>
        </p:nvSpPr>
        <p:spPr>
          <a:xfrm>
            <a:off x="525760" y="5121969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Automation Testing</a:t>
            </a:r>
            <a:endParaRPr lang="en-US" sz="1167" dirty="0"/>
          </a:p>
        </p:txBody>
      </p:sp>
      <p:sp>
        <p:nvSpPr>
          <p:cNvPr id="28" name="Shape 26"/>
          <p:cNvSpPr/>
          <p:nvPr/>
        </p:nvSpPr>
        <p:spPr>
          <a:xfrm>
            <a:off x="6057901" y="5342037"/>
            <a:ext cx="300434" cy="38100"/>
          </a:xfrm>
          <a:prstGeom prst="roundRect">
            <a:avLst>
              <a:gd name="adj" fmla="val 591480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9694" y="5304780"/>
            <a:ext cx="112613" cy="112613"/>
          </a:xfrm>
          <a:prstGeom prst="roundRect">
            <a:avLst>
              <a:gd name="adj" fmla="val 33832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96869" y="5243711"/>
            <a:ext cx="1877913" cy="234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6</a:t>
            </a:r>
            <a:endParaRPr lang="en-US" sz="1458" dirty="0"/>
          </a:p>
        </p:txBody>
      </p:sp>
      <p:sp>
        <p:nvSpPr>
          <p:cNvPr id="31" name="Text 29"/>
          <p:cNvSpPr/>
          <p:nvPr/>
        </p:nvSpPr>
        <p:spPr>
          <a:xfrm>
            <a:off x="6696870" y="5568554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22Nov - 28 Nov</a:t>
            </a:r>
            <a:endParaRPr lang="en-US" sz="1167" dirty="0"/>
          </a:p>
        </p:txBody>
      </p:sp>
      <p:sp>
        <p:nvSpPr>
          <p:cNvPr id="32" name="Text 30"/>
          <p:cNvSpPr/>
          <p:nvPr/>
        </p:nvSpPr>
        <p:spPr>
          <a:xfrm>
            <a:off x="6696870" y="5898952"/>
            <a:ext cx="4969371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Execution</a:t>
            </a:r>
            <a:endParaRPr lang="en-US" sz="1167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C99FBC-70A6-C47F-3B3C-6528FF566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35" name="Picture 3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391709CC-6273-B67D-C6E0-026F8B4C3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519" y="1342826"/>
            <a:ext cx="6664523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Tools &amp; Technologies</a:t>
            </a:r>
            <a:endParaRPr lang="en-US" sz="404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31" y="2519363"/>
            <a:ext cx="617141" cy="617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4346" y="2692896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Jira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35" y="2519363"/>
            <a:ext cx="617141" cy="6171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64051" y="2692896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Excel 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440" y="2519363"/>
            <a:ext cx="617141" cy="6171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3756" y="2692896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Postman</a:t>
            </a:r>
            <a:endParaRPr lang="en-US" sz="2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31" y="3547964"/>
            <a:ext cx="617141" cy="61714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94346" y="3721497"/>
            <a:ext cx="253821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MySQL Workbench</a:t>
            </a:r>
            <a:endParaRPr lang="en-US" sz="2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735" y="3547964"/>
            <a:ext cx="617141" cy="61714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64051" y="3721497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Java </a:t>
            </a:r>
            <a:endParaRPr lang="en-US" sz="2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9440" y="3547964"/>
            <a:ext cx="617141" cy="61714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933756" y="3721497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Selenium </a:t>
            </a:r>
            <a:endParaRPr lang="en-US" sz="2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031" y="4775895"/>
            <a:ext cx="617141" cy="61714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94346" y="4949429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TestNG </a:t>
            </a:r>
            <a:endParaRPr lang="en-US" sz="20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735" y="4775895"/>
            <a:ext cx="617141" cy="61714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264051" y="4949429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Cucumber</a:t>
            </a:r>
            <a:endParaRPr lang="en-US" sz="20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9440" y="4775895"/>
            <a:ext cx="617141" cy="61714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933756" y="4949429"/>
            <a:ext cx="2538214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GitHub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9429AB-CCF7-8A92-F476-BE76996F39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23" name="Picture 22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7888160-75C3-EBBC-EF2C-B19FF042C0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BDBE79-7438-EDD3-75EC-7BC12640A62E}"/>
              </a:ext>
            </a:extLst>
          </p:cNvPr>
          <p:cNvSpPr txBox="1"/>
          <p:nvPr/>
        </p:nvSpPr>
        <p:spPr>
          <a:xfrm>
            <a:off x="542925" y="32015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Manual Testing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49714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566" y="460573"/>
            <a:ext cx="1046628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Manual Testing - Execution 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31825" y="1421507"/>
            <a:ext cx="10928350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manual testing phase provided valuable insights into the OpenCart platform's stability and functionality, highlighting areas for improvement.</a:t>
            </a:r>
            <a:endParaRPr lang="en-US" sz="141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" y="2404964"/>
            <a:ext cx="5244008" cy="27306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71514" y="5161062"/>
            <a:ext cx="180479" cy="180479"/>
          </a:xfrm>
          <a:prstGeom prst="roundRect">
            <a:avLst>
              <a:gd name="adj" fmla="val 8444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02793" y="5161062"/>
            <a:ext cx="592336" cy="1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Passed</a:t>
            </a:r>
            <a:endParaRPr lang="en-US" sz="1417" dirty="0"/>
          </a:p>
        </p:txBody>
      </p:sp>
      <p:sp>
        <p:nvSpPr>
          <p:cNvPr id="7" name="Shape 4"/>
          <p:cNvSpPr/>
          <p:nvPr/>
        </p:nvSpPr>
        <p:spPr>
          <a:xfrm>
            <a:off x="2890045" y="5161062"/>
            <a:ext cx="180479" cy="180479"/>
          </a:xfrm>
          <a:prstGeom prst="roundRect">
            <a:avLst>
              <a:gd name="adj" fmla="val 8444"/>
            </a:avLst>
          </a:prstGeom>
          <a:solidFill>
            <a:srgbClr val="A70A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21323" y="5161062"/>
            <a:ext cx="496094" cy="1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1417" dirty="0"/>
          </a:p>
        </p:txBody>
      </p:sp>
      <p:sp>
        <p:nvSpPr>
          <p:cNvPr id="9" name="Shape 6"/>
          <p:cNvSpPr/>
          <p:nvPr/>
        </p:nvSpPr>
        <p:spPr>
          <a:xfrm>
            <a:off x="4212432" y="5161062"/>
            <a:ext cx="180479" cy="180479"/>
          </a:xfrm>
          <a:prstGeom prst="roundRect">
            <a:avLst>
              <a:gd name="adj" fmla="val 8444"/>
            </a:avLst>
          </a:prstGeom>
          <a:solidFill>
            <a:srgbClr val="B651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443710" y="5161062"/>
            <a:ext cx="663476" cy="1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Blocked</a:t>
            </a:r>
            <a:endParaRPr lang="en-US" sz="1417" dirty="0"/>
          </a:p>
        </p:txBody>
      </p:sp>
      <p:sp>
        <p:nvSpPr>
          <p:cNvPr id="11" name="Text 8"/>
          <p:cNvSpPr/>
          <p:nvPr/>
        </p:nvSpPr>
        <p:spPr>
          <a:xfrm>
            <a:off x="631825" y="5544542"/>
            <a:ext cx="524400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Test Cases:</a:t>
            </a: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314</a:t>
            </a:r>
            <a:endParaRPr lang="en-US" sz="1417" dirty="0"/>
          </a:p>
        </p:txBody>
      </p:sp>
      <p:sp>
        <p:nvSpPr>
          <p:cNvPr id="12" name="Text 9"/>
          <p:cNvSpPr/>
          <p:nvPr/>
        </p:nvSpPr>
        <p:spPr>
          <a:xfrm>
            <a:off x="631825" y="5995690"/>
            <a:ext cx="524400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Rate:</a:t>
            </a:r>
            <a:r>
              <a:rPr lang="en-US" sz="1417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84%</a:t>
            </a:r>
            <a:endParaRPr lang="en-US" sz="1417" dirty="0"/>
          </a:p>
        </p:txBody>
      </p:sp>
      <p:sp>
        <p:nvSpPr>
          <p:cNvPr id="13" name="Text 10"/>
          <p:cNvSpPr/>
          <p:nvPr/>
        </p:nvSpPr>
        <p:spPr>
          <a:xfrm>
            <a:off x="6322517" y="2382441"/>
            <a:ext cx="2256532" cy="28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Metrics: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322517" y="2867422"/>
            <a:ext cx="5244008" cy="693738"/>
          </a:xfrm>
          <a:prstGeom prst="roundRect">
            <a:avLst>
              <a:gd name="adj" fmla="val 3903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28395" y="3073301"/>
            <a:ext cx="3317082" cy="28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Passed:</a:t>
            </a:r>
            <a:r>
              <a:rPr lang="en-US" sz="1750" b="1" dirty="0">
                <a:solidFill>
                  <a:srgbClr val="1F7135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265 test cases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322517" y="3741639"/>
            <a:ext cx="5244008" cy="693738"/>
          </a:xfrm>
          <a:prstGeom prst="roundRect">
            <a:avLst>
              <a:gd name="adj" fmla="val 3903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28395" y="3947518"/>
            <a:ext cx="2853233" cy="28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Failed: </a:t>
            </a:r>
            <a:r>
              <a:rPr lang="en-US" sz="1750" b="1" dirty="0">
                <a:solidFill>
                  <a:srgbClr val="F44444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41 test cases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6322517" y="4615855"/>
            <a:ext cx="5244008" cy="693738"/>
          </a:xfrm>
          <a:prstGeom prst="roundRect">
            <a:avLst>
              <a:gd name="adj" fmla="val 3903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28395" y="4821733"/>
            <a:ext cx="3030240" cy="28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Blocked: </a:t>
            </a:r>
            <a:r>
              <a:rPr lang="en-US" sz="1750" b="1" dirty="0">
                <a:solidFill>
                  <a:srgbClr val="F9D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8 test cases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A390B9-73C7-A40E-3B86-2E10DBA61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22" name="Picture 2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826F55DD-E4F5-9843-4390-7A6CF5322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510" y="449661"/>
            <a:ext cx="5306886" cy="50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Major Functional Defects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36" y="1361778"/>
            <a:ext cx="1027708" cy="1233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2526" y="1567260"/>
            <a:ext cx="9493448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Cart update logic issues (quantity change removing items).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36" y="2595067"/>
            <a:ext cx="1027708" cy="12332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52526" y="2800549"/>
            <a:ext cx="9520138" cy="642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Item cancellation not reflected in Order History after submitting return request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36" y="3828356"/>
            <a:ext cx="1027708" cy="12332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2526" y="4033838"/>
            <a:ext cx="9520138" cy="642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Incorrect shipping cost calculation after selecting shipping method</a:t>
            </a:r>
            <a:endParaRPr lang="en-US" sz="2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36" y="5061645"/>
            <a:ext cx="1027708" cy="123328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52526" y="5267127"/>
            <a:ext cx="796379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Item marked in stock but unavailable at checkout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15592B-0F41-1C63-C088-6CF02CF3F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C3845CE-A6F2-2289-E573-8CE7722C5C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7CE16E-7F81-C7DE-4247-920AD523AD01}"/>
              </a:ext>
            </a:extLst>
          </p:cNvPr>
          <p:cNvSpPr txBox="1"/>
          <p:nvPr/>
        </p:nvSpPr>
        <p:spPr>
          <a:xfrm>
            <a:off x="228600" y="9155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 Testing </a:t>
            </a:r>
            <a:endParaRPr 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9E053B-078D-E63F-DCEB-F759DB0A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775"/>
            <a:ext cx="12192000" cy="5991225"/>
          </a:xfrm>
          <a:prstGeom prst="rect">
            <a:avLst/>
          </a:prstGeom>
        </p:spPr>
      </p:pic>
      <p:pic>
        <p:nvPicPr>
          <p:cNvPr id="10" name="Picture 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66B3FE8-1864-3A53-7B47-CC7ECF697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9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31" y="587276"/>
            <a:ext cx="1075193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 Testing - Validated endpoints:</a:t>
            </a:r>
            <a:endParaRPr lang="en-US" sz="4042" dirty="0"/>
          </a:p>
        </p:txBody>
      </p:sp>
      <p:sp>
        <p:nvSpPr>
          <p:cNvPr id="3" name="Shape 1"/>
          <p:cNvSpPr/>
          <p:nvPr/>
        </p:nvSpPr>
        <p:spPr>
          <a:xfrm>
            <a:off x="720030" y="1982490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501" y="1873151"/>
            <a:ext cx="431829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Authentication → /api/login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20030" y="2715420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501" y="2606081"/>
            <a:ext cx="586769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Cart → /api/cart/add, /edit, /products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0030" y="3448348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8501" y="3339010"/>
            <a:ext cx="400218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Currency → /api/currency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0030" y="4181277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501" y="4071938"/>
            <a:ext cx="333097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Coupons &amp; Vouchers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0030" y="4914206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501" y="4804867"/>
            <a:ext cx="324227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Shipping &amp; Payment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0030" y="5647135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8501" y="5537796"/>
            <a:ext cx="358556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Order → /api/order/add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466838-F921-5B20-D9CD-DB9365F7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17" name="Picture 1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0ADCF529-7AEE-C88B-3EE6-B8ECB73FE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31" y="772518"/>
            <a:ext cx="10443964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 Testing- Execution Summary</a:t>
            </a:r>
            <a:endParaRPr lang="en-US" sz="404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31" y="1955403"/>
            <a:ext cx="5125045" cy="26388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1685" y="4619625"/>
            <a:ext cx="205681" cy="205681"/>
          </a:xfrm>
          <a:prstGeom prst="roundRect">
            <a:avLst>
              <a:gd name="adj" fmla="val 7410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668165" y="4619625"/>
            <a:ext cx="675481" cy="2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Passed</a:t>
            </a:r>
            <a:endParaRPr lang="en-US" sz="1583" dirty="0"/>
          </a:p>
        </p:txBody>
      </p:sp>
      <p:sp>
        <p:nvSpPr>
          <p:cNvPr id="6" name="Shape 3"/>
          <p:cNvSpPr/>
          <p:nvPr/>
        </p:nvSpPr>
        <p:spPr>
          <a:xfrm>
            <a:off x="2871391" y="4619625"/>
            <a:ext cx="205681" cy="205681"/>
          </a:xfrm>
          <a:prstGeom prst="roundRect">
            <a:avLst>
              <a:gd name="adj" fmla="val 7410"/>
            </a:avLst>
          </a:prstGeom>
          <a:solidFill>
            <a:srgbClr val="A70A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27871" y="4619625"/>
            <a:ext cx="565646" cy="2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1583" dirty="0"/>
          </a:p>
        </p:txBody>
      </p:sp>
      <p:sp>
        <p:nvSpPr>
          <p:cNvPr id="8" name="Shape 5"/>
          <p:cNvSpPr/>
          <p:nvPr/>
        </p:nvSpPr>
        <p:spPr>
          <a:xfrm>
            <a:off x="4221361" y="4619625"/>
            <a:ext cx="205681" cy="205681"/>
          </a:xfrm>
          <a:prstGeom prst="roundRect">
            <a:avLst>
              <a:gd name="adj" fmla="val 7410"/>
            </a:avLst>
          </a:prstGeom>
          <a:solidFill>
            <a:srgbClr val="B651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477842" y="4619625"/>
            <a:ext cx="756444" cy="2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Blocked</a:t>
            </a:r>
            <a:endParaRPr lang="en-US" sz="1583" dirty="0"/>
          </a:p>
        </p:txBody>
      </p:sp>
      <p:sp>
        <p:nvSpPr>
          <p:cNvPr id="10" name="Text 7"/>
          <p:cNvSpPr/>
          <p:nvPr/>
        </p:nvSpPr>
        <p:spPr>
          <a:xfrm>
            <a:off x="720031" y="5056783"/>
            <a:ext cx="51250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Test Cases:</a:t>
            </a: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33</a:t>
            </a:r>
            <a:endParaRPr lang="en-US" sz="1583" dirty="0"/>
          </a:p>
        </p:txBody>
      </p:sp>
      <p:sp>
        <p:nvSpPr>
          <p:cNvPr id="11" name="Text 8"/>
          <p:cNvSpPr/>
          <p:nvPr/>
        </p:nvSpPr>
        <p:spPr>
          <a:xfrm>
            <a:off x="720031" y="5571133"/>
            <a:ext cx="51250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Rate:</a:t>
            </a:r>
            <a:r>
              <a:rPr lang="en-US" sz="1583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72.7%</a:t>
            </a:r>
            <a:endParaRPr lang="en-US" sz="1583" dirty="0"/>
          </a:p>
        </p:txBody>
      </p:sp>
      <p:sp>
        <p:nvSpPr>
          <p:cNvPr id="12" name="Text 9"/>
          <p:cNvSpPr/>
          <p:nvPr/>
        </p:nvSpPr>
        <p:spPr>
          <a:xfrm>
            <a:off x="6353274" y="1929706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Metrics: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53274" y="2482553"/>
            <a:ext cx="5125045" cy="796330"/>
          </a:xfrm>
          <a:prstGeom prst="roundRect">
            <a:avLst>
              <a:gd name="adj" fmla="val 38754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90705" y="2719983"/>
            <a:ext cx="357614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Passed:</a:t>
            </a:r>
            <a:r>
              <a:rPr lang="en-US" sz="2000" b="1" dirty="0">
                <a:solidFill>
                  <a:srgbClr val="1F7135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24 test cases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353274" y="3484563"/>
            <a:ext cx="5125045" cy="796330"/>
          </a:xfrm>
          <a:prstGeom prst="roundRect">
            <a:avLst>
              <a:gd name="adj" fmla="val 38754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90705" y="3721994"/>
            <a:ext cx="312767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Failed: </a:t>
            </a:r>
            <a:r>
              <a:rPr lang="en-US" sz="2000" b="1" dirty="0">
                <a:solidFill>
                  <a:srgbClr val="F44444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9 test cases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43275E-BD18-3466-7771-8B77048A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19" name="Picture 1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38EF8156-FFFF-3408-E88A-752A6EC08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31" y="1127373"/>
            <a:ext cx="411480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Major issues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20031" y="2014637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502" y="1905298"/>
            <a:ext cx="747891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Lack of Documented Responses &amp; Error Codes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20031" y="2747566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502" y="2638227"/>
            <a:ext cx="679797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Incomplete documentation for Order APIs.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0031" y="3268266"/>
            <a:ext cx="411480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Major Defects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20031" y="4200426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502" y="4091087"/>
            <a:ext cx="861972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200 OK returned for invalid or unauthorized requests.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20031" y="4933355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502" y="4824016"/>
            <a:ext cx="626606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Mixed HTML + JSON in error responses.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0031" y="5666284"/>
            <a:ext cx="102791" cy="102791"/>
          </a:xfrm>
          <a:prstGeom prst="roundRect">
            <a:avLst>
              <a:gd name="adj" fmla="val 370656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502" y="5556945"/>
            <a:ext cx="753368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validation errors on several endpoints.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0D1416-1339-EEB0-BC53-59571D1F9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1ABA320-1C01-01B6-C5E0-B6CC70637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736040-93B0-0359-6992-C652F6FE0637}"/>
              </a:ext>
            </a:extLst>
          </p:cNvPr>
          <p:cNvSpPr txBox="1"/>
          <p:nvPr/>
        </p:nvSpPr>
        <p:spPr>
          <a:xfrm>
            <a:off x="304800" y="2344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Testing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90209-0C1C-B3AC-00DF-4192B6162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415" y="5438577"/>
            <a:ext cx="4553585" cy="1419423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DA3526D-06D1-E565-4DF3-D4536C100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4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957" y="534591"/>
            <a:ext cx="10083007" cy="51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6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Testing- Execution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6957" y="1379439"/>
            <a:ext cx="1103808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 validation across OpenCart core tables</a:t>
            </a:r>
            <a:endParaRPr lang="en-US" sz="1292" dirty="0"/>
          </a:p>
        </p:txBody>
      </p:sp>
      <p:sp>
        <p:nvSpPr>
          <p:cNvPr id="4" name="Text 2"/>
          <p:cNvSpPr/>
          <p:nvPr/>
        </p:nvSpPr>
        <p:spPr>
          <a:xfrm>
            <a:off x="576957" y="1700907"/>
            <a:ext cx="1103808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042"/>
              </a:lnSpc>
              <a:buSzPct val="100000"/>
              <a:buChar char="•"/>
            </a:pP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Foreign Key checks for )Customers, Addresses) , (Orders, Order Products) , (Wishlist, Customers)</a:t>
            </a:r>
            <a:endParaRPr lang="en-US" sz="129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57" y="2335609"/>
            <a:ext cx="5317927" cy="2787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08026" y="5148659"/>
            <a:ext cx="164803" cy="164803"/>
          </a:xfrm>
          <a:prstGeom prst="roundRect">
            <a:avLst>
              <a:gd name="adj" fmla="val 9247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23629" y="5148659"/>
            <a:ext cx="541238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Passed</a:t>
            </a:r>
            <a:endParaRPr lang="en-US" sz="1292" dirty="0"/>
          </a:p>
        </p:txBody>
      </p:sp>
      <p:sp>
        <p:nvSpPr>
          <p:cNvPr id="8" name="Shape 5"/>
          <p:cNvSpPr/>
          <p:nvPr/>
        </p:nvSpPr>
        <p:spPr>
          <a:xfrm>
            <a:off x="2901454" y="5148659"/>
            <a:ext cx="164803" cy="164803"/>
          </a:xfrm>
          <a:prstGeom prst="roundRect">
            <a:avLst>
              <a:gd name="adj" fmla="val 9247"/>
            </a:avLst>
          </a:prstGeom>
          <a:solidFill>
            <a:srgbClr val="A70A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17057" y="5148659"/>
            <a:ext cx="45323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1292" dirty="0"/>
          </a:p>
        </p:txBody>
      </p:sp>
      <p:sp>
        <p:nvSpPr>
          <p:cNvPr id="10" name="Shape 7"/>
          <p:cNvSpPr/>
          <p:nvPr/>
        </p:nvSpPr>
        <p:spPr>
          <a:xfrm>
            <a:off x="4206875" y="5148659"/>
            <a:ext cx="164803" cy="164803"/>
          </a:xfrm>
          <a:prstGeom prst="roundRect">
            <a:avLst>
              <a:gd name="adj" fmla="val 9247"/>
            </a:avLst>
          </a:prstGeom>
          <a:solidFill>
            <a:srgbClr val="B651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22478" y="5148659"/>
            <a:ext cx="606128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Blocked</a:t>
            </a:r>
            <a:endParaRPr lang="en-US" sz="1292" dirty="0"/>
          </a:p>
        </p:txBody>
      </p:sp>
      <p:sp>
        <p:nvSpPr>
          <p:cNvPr id="12" name="Text 9"/>
          <p:cNvSpPr/>
          <p:nvPr/>
        </p:nvSpPr>
        <p:spPr>
          <a:xfrm>
            <a:off x="576957" y="5499001"/>
            <a:ext cx="5317927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92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Test Cases:</a:t>
            </a: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110</a:t>
            </a:r>
            <a:endParaRPr lang="en-US" sz="1292" dirty="0"/>
          </a:p>
        </p:txBody>
      </p:sp>
      <p:sp>
        <p:nvSpPr>
          <p:cNvPr id="13" name="Text 10"/>
          <p:cNvSpPr/>
          <p:nvPr/>
        </p:nvSpPr>
        <p:spPr>
          <a:xfrm>
            <a:off x="576957" y="5911156"/>
            <a:ext cx="5317927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292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Rate:</a:t>
            </a:r>
            <a:r>
              <a:rPr lang="en-US" sz="129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82.7%</a:t>
            </a:r>
            <a:endParaRPr lang="en-US" sz="1292" dirty="0"/>
          </a:p>
        </p:txBody>
      </p:sp>
      <p:sp>
        <p:nvSpPr>
          <p:cNvPr id="14" name="Text 11"/>
          <p:cNvSpPr/>
          <p:nvPr/>
        </p:nvSpPr>
        <p:spPr>
          <a:xfrm>
            <a:off x="6303467" y="2314972"/>
            <a:ext cx="2060773" cy="25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Metrics:</a:t>
            </a:r>
            <a:endParaRPr lang="en-US" sz="1583" dirty="0"/>
          </a:p>
        </p:txBody>
      </p:sp>
      <p:sp>
        <p:nvSpPr>
          <p:cNvPr id="15" name="Shape 12"/>
          <p:cNvSpPr/>
          <p:nvPr/>
        </p:nvSpPr>
        <p:spPr>
          <a:xfrm>
            <a:off x="6303467" y="2757983"/>
            <a:ext cx="5317927" cy="637977"/>
          </a:xfrm>
          <a:prstGeom prst="roundRect">
            <a:avLst>
              <a:gd name="adj" fmla="val 3876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93670" y="2948186"/>
            <a:ext cx="2797671" cy="25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Passed:</a:t>
            </a:r>
            <a:r>
              <a:rPr lang="en-US" sz="1583" b="1" dirty="0">
                <a:solidFill>
                  <a:srgbClr val="1F7135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91 test cases</a:t>
            </a:r>
            <a:endParaRPr lang="en-US" sz="1583" dirty="0"/>
          </a:p>
        </p:txBody>
      </p:sp>
      <p:sp>
        <p:nvSpPr>
          <p:cNvPr id="17" name="Shape 14"/>
          <p:cNvSpPr/>
          <p:nvPr/>
        </p:nvSpPr>
        <p:spPr>
          <a:xfrm>
            <a:off x="6303467" y="3560762"/>
            <a:ext cx="5317927" cy="637977"/>
          </a:xfrm>
          <a:prstGeom prst="roundRect">
            <a:avLst>
              <a:gd name="adj" fmla="val 3876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93669" y="3750965"/>
            <a:ext cx="2612132" cy="25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583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Failed: </a:t>
            </a:r>
            <a:r>
              <a:rPr lang="en-US" sz="1583" b="1" dirty="0">
                <a:solidFill>
                  <a:srgbClr val="F44444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19 test cases</a:t>
            </a:r>
            <a:endParaRPr lang="en-US" sz="1583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FAD916-A84F-BCE0-2B5B-72E295B10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257" y="5313561"/>
            <a:ext cx="2260743" cy="14553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E073A8-9665-DE9E-0849-4565ECEE3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22" name="Picture 2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FDDE168-23BA-EF6F-A0D3-D1DDA66027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31" y="1098451"/>
            <a:ext cx="1075193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4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Testing- Major Findings</a:t>
            </a:r>
            <a:endParaRPr lang="en-US" sz="4042" dirty="0"/>
          </a:p>
        </p:txBody>
      </p:sp>
      <p:sp>
        <p:nvSpPr>
          <p:cNvPr id="3" name="Shape 1"/>
          <p:cNvSpPr/>
          <p:nvPr/>
        </p:nvSpPr>
        <p:spPr>
          <a:xfrm>
            <a:off x="720031" y="2795786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7123" y="2834283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17" dirty="0"/>
          </a:p>
        </p:txBody>
      </p:sp>
      <p:sp>
        <p:nvSpPr>
          <p:cNvPr id="5" name="Text 3"/>
          <p:cNvSpPr/>
          <p:nvPr/>
        </p:nvSpPr>
        <p:spPr>
          <a:xfrm>
            <a:off x="1388567" y="2866430"/>
            <a:ext cx="1008340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allows duplicate customer emails when updating a customer record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20031" y="3920828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7123" y="3959324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17" dirty="0"/>
          </a:p>
        </p:txBody>
      </p:sp>
      <p:sp>
        <p:nvSpPr>
          <p:cNvPr id="8" name="Text 6"/>
          <p:cNvSpPr/>
          <p:nvPr/>
        </p:nvSpPr>
        <p:spPr>
          <a:xfrm>
            <a:off x="1388567" y="3991471"/>
            <a:ext cx="1008340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Cart item price stored as NULL in database while UI displays a valid price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0031" y="5045870"/>
            <a:ext cx="462856" cy="462856"/>
          </a:xfrm>
          <a:prstGeom prst="roundRect">
            <a:avLst>
              <a:gd name="adj" fmla="val 6667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7123" y="5084366"/>
            <a:ext cx="3085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17"/>
              </a:lnSpc>
            </a:pPr>
            <a:r>
              <a:rPr lang="en-US" sz="2417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417" dirty="0"/>
          </a:p>
        </p:txBody>
      </p:sp>
      <p:sp>
        <p:nvSpPr>
          <p:cNvPr id="11" name="Text 9"/>
          <p:cNvSpPr/>
          <p:nvPr/>
        </p:nvSpPr>
        <p:spPr>
          <a:xfrm>
            <a:off x="1388567" y="5116513"/>
            <a:ext cx="1008340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Missed constraints on mandatory fields on databases (e.g., first name)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5CB3BD-5C91-8BC5-E7D8-EB441CBDF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6223000"/>
            <a:ext cx="1587500" cy="545914"/>
          </a:xfrm>
          <a:prstGeom prst="rect">
            <a:avLst/>
          </a:prstGeom>
        </p:spPr>
      </p:pic>
      <p:pic>
        <p:nvPicPr>
          <p:cNvPr id="14" name="Picture 1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492EE33-8158-9B94-8421-565A03E14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814" y="547489"/>
            <a:ext cx="10798373" cy="1244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917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Automation Testing- Execution Summary</a:t>
            </a:r>
            <a:endParaRPr lang="en-US" sz="391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14" y="2314476"/>
            <a:ext cx="5156299" cy="26629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27361" y="5002808"/>
            <a:ext cx="199033" cy="199033"/>
          </a:xfrm>
          <a:prstGeom prst="roundRect">
            <a:avLst>
              <a:gd name="adj" fmla="val 7657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677194" y="5002807"/>
            <a:ext cx="653653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Passed</a:t>
            </a:r>
            <a:endParaRPr lang="en-US" sz="1542" dirty="0"/>
          </a:p>
        </p:txBody>
      </p:sp>
      <p:sp>
        <p:nvSpPr>
          <p:cNvPr id="6" name="Shape 3"/>
          <p:cNvSpPr/>
          <p:nvPr/>
        </p:nvSpPr>
        <p:spPr>
          <a:xfrm>
            <a:off x="2876253" y="5002808"/>
            <a:ext cx="199033" cy="199033"/>
          </a:xfrm>
          <a:prstGeom prst="roundRect">
            <a:avLst>
              <a:gd name="adj" fmla="val 7657"/>
            </a:avLst>
          </a:prstGeom>
          <a:solidFill>
            <a:srgbClr val="A70A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126085" y="5002807"/>
            <a:ext cx="547390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Failed</a:t>
            </a:r>
            <a:endParaRPr lang="en-US" sz="1542" dirty="0"/>
          </a:p>
        </p:txBody>
      </p:sp>
      <p:sp>
        <p:nvSpPr>
          <p:cNvPr id="8" name="Shape 5"/>
          <p:cNvSpPr/>
          <p:nvPr/>
        </p:nvSpPr>
        <p:spPr>
          <a:xfrm>
            <a:off x="4218980" y="5002808"/>
            <a:ext cx="199033" cy="199033"/>
          </a:xfrm>
          <a:prstGeom prst="roundRect">
            <a:avLst>
              <a:gd name="adj" fmla="val 7657"/>
            </a:avLst>
          </a:prstGeom>
          <a:solidFill>
            <a:srgbClr val="B651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468813" y="5002807"/>
            <a:ext cx="732036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Blocked</a:t>
            </a:r>
            <a:endParaRPr lang="en-US" sz="1542" dirty="0"/>
          </a:p>
        </p:txBody>
      </p:sp>
      <p:sp>
        <p:nvSpPr>
          <p:cNvPr id="10" name="Text 7"/>
          <p:cNvSpPr/>
          <p:nvPr/>
        </p:nvSpPr>
        <p:spPr>
          <a:xfrm>
            <a:off x="696814" y="5425877"/>
            <a:ext cx="5156299" cy="31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Test Cases:</a:t>
            </a:r>
            <a:r>
              <a:rPr lang="en-US" sz="154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52</a:t>
            </a:r>
            <a:endParaRPr lang="en-US" sz="1542" dirty="0"/>
          </a:p>
        </p:txBody>
      </p:sp>
      <p:sp>
        <p:nvSpPr>
          <p:cNvPr id="11" name="Text 8"/>
          <p:cNvSpPr/>
          <p:nvPr/>
        </p:nvSpPr>
        <p:spPr>
          <a:xfrm>
            <a:off x="696814" y="5923657"/>
            <a:ext cx="5156299" cy="318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F94C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 Rate:</a:t>
            </a:r>
            <a:r>
              <a:rPr lang="en-US" sz="1542" dirty="0">
                <a:solidFill>
                  <a:srgbClr val="E5E0D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100%</a:t>
            </a:r>
            <a:endParaRPr lang="en-US" sz="1542" dirty="0"/>
          </a:p>
        </p:txBody>
      </p:sp>
      <p:sp>
        <p:nvSpPr>
          <p:cNvPr id="12" name="Text 9"/>
          <p:cNvSpPr/>
          <p:nvPr/>
        </p:nvSpPr>
        <p:spPr>
          <a:xfrm>
            <a:off x="6345238" y="2289572"/>
            <a:ext cx="2488704" cy="31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Metrics:</a:t>
            </a:r>
            <a:endParaRPr lang="en-US" sz="1958" dirty="0"/>
          </a:p>
        </p:txBody>
      </p:sp>
      <p:sp>
        <p:nvSpPr>
          <p:cNvPr id="13" name="Shape 10"/>
          <p:cNvSpPr/>
          <p:nvPr/>
        </p:nvSpPr>
        <p:spPr>
          <a:xfrm>
            <a:off x="6345238" y="2824559"/>
            <a:ext cx="5156299" cy="772617"/>
          </a:xfrm>
          <a:prstGeom prst="roundRect">
            <a:avLst>
              <a:gd name="adj" fmla="val 3865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76020" y="3055343"/>
            <a:ext cx="3446363" cy="31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Passed:</a:t>
            </a:r>
            <a:r>
              <a:rPr lang="en-US" sz="1958" b="1" dirty="0">
                <a:solidFill>
                  <a:srgbClr val="1F7135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52 test cases</a:t>
            </a:r>
            <a:endParaRPr lang="en-US" sz="1958" dirty="0"/>
          </a:p>
        </p:txBody>
      </p:sp>
      <p:sp>
        <p:nvSpPr>
          <p:cNvPr id="15" name="Shape 12"/>
          <p:cNvSpPr/>
          <p:nvPr/>
        </p:nvSpPr>
        <p:spPr>
          <a:xfrm>
            <a:off x="6345238" y="3796208"/>
            <a:ext cx="5156299" cy="772617"/>
          </a:xfrm>
          <a:prstGeom prst="roundRect">
            <a:avLst>
              <a:gd name="adj" fmla="val 38655"/>
            </a:avLst>
          </a:prstGeom>
          <a:solidFill>
            <a:srgbClr val="212121"/>
          </a:solidFill>
          <a:ln w="381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76020" y="4026992"/>
            <a:ext cx="3043138" cy="31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Failed: </a:t>
            </a:r>
            <a:r>
              <a:rPr lang="en-US" sz="1958" b="1" dirty="0">
                <a:solidFill>
                  <a:srgbClr val="F44444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 test cases</a:t>
            </a:r>
            <a:endParaRPr lang="en-US" sz="1958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099A77-0531-CFE1-627A-599143694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143" y="6422572"/>
            <a:ext cx="1505858" cy="346342"/>
          </a:xfrm>
          <a:prstGeom prst="rect">
            <a:avLst/>
          </a:prstGeom>
        </p:spPr>
      </p:pic>
      <p:pic>
        <p:nvPicPr>
          <p:cNvPr id="19" name="Picture 18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02D8F7D1-419E-2C8E-B007-D777C61FA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91" y="430014"/>
            <a:ext cx="9745167" cy="48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42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Automation Testing - Automation Stack</a:t>
            </a:r>
            <a:endParaRPr lang="en-US" sz="3042" dirty="0"/>
          </a:p>
        </p:txBody>
      </p:sp>
      <p:sp>
        <p:nvSpPr>
          <p:cNvPr id="3" name="Shape 1"/>
          <p:cNvSpPr/>
          <p:nvPr/>
        </p:nvSpPr>
        <p:spPr>
          <a:xfrm>
            <a:off x="547291" y="1231405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9060" y="1496220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3613" y="1413172"/>
            <a:ext cx="1964035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Language: 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7291" y="2151956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9060" y="2416771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3612" y="2333724"/>
            <a:ext cx="5110857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Framework: Selenium WebDriver + TestNG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7291" y="3072507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9060" y="3337322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3613" y="3254276"/>
            <a:ext cx="4041081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Design: Page Object Model (POM)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7291" y="3993059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9060" y="4257874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613" y="4174827"/>
            <a:ext cx="3097510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BDD: Gherkin + Cucumber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7291" y="4913611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9060" y="5178426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3613" y="5095379"/>
            <a:ext cx="2553593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Report: Allure Report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7291" y="5834162"/>
            <a:ext cx="11097419" cy="607814"/>
          </a:xfrm>
          <a:prstGeom prst="roundRect">
            <a:avLst>
              <a:gd name="adj" fmla="val 38593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9060" y="6098977"/>
            <a:ext cx="78184" cy="78184"/>
          </a:xfrm>
          <a:prstGeom prst="roundRect">
            <a:avLst>
              <a:gd name="adj" fmla="val 487311"/>
            </a:avLst>
          </a:prstGeom>
          <a:solidFill>
            <a:srgbClr val="0A6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3613" y="6015931"/>
            <a:ext cx="8370689" cy="244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E5E0D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Automated flows: Login, Search, Add to Cart, Checkout, admin flows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B92CFD-CD1A-C0CA-C254-360A70478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455053"/>
            <a:ext cx="1524000" cy="313860"/>
          </a:xfrm>
          <a:prstGeom prst="rect">
            <a:avLst/>
          </a:prstGeom>
        </p:spPr>
      </p:pic>
      <p:pic>
        <p:nvPicPr>
          <p:cNvPr id="22" name="Picture 2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751A31F-3B15-6306-69D9-2D90CD1A7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672" y="346051"/>
            <a:ext cx="3783807" cy="34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8"/>
              </a:lnSpc>
            </a:pPr>
            <a:r>
              <a:rPr lang="en-US" sz="28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Sample BDD Scenario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D2F2C-C6E8-3831-E4A2-0997B0E3D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820" y="6223000"/>
            <a:ext cx="650180" cy="545914"/>
          </a:xfrm>
          <a:prstGeom prst="rect">
            <a:avLst/>
          </a:prstGeom>
        </p:spPr>
      </p:pic>
      <p:pic>
        <p:nvPicPr>
          <p:cNvPr id="5" name="Picture 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8ABED258-BA48-9B87-6E55-30ABA4387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  <p:pic>
        <p:nvPicPr>
          <p:cNvPr id="6" name="Picture 5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FBFE7135-2E94-7C38-C4E8-E49D8D0E2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06" y="828971"/>
            <a:ext cx="11259187" cy="59399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418" y="520230"/>
            <a:ext cx="4140398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75"/>
              </a:lnSpc>
            </a:pPr>
            <a:r>
              <a:rPr lang="en-US" sz="4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Automation Reporting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C512D-B2F2-70A3-D8B0-1F77FB74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928" y="6602611"/>
            <a:ext cx="1660072" cy="166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074F39-BB35-870E-657D-10CC0943C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6223000"/>
            <a:ext cx="685800" cy="545914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44F12C8-5BC0-FCA0-2845-0409A96BB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96A168-E837-729F-F700-E6592EB03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171" y="6049223"/>
            <a:ext cx="2343477" cy="66684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C5A532-7291-CCD4-C2BC-DCF0A68E4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84" y="1238772"/>
            <a:ext cx="11606231" cy="55301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87" y="412352"/>
            <a:ext cx="4990406" cy="43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Challenges &amp; Solutions</a:t>
            </a:r>
            <a:endParaRPr lang="en-US" sz="40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6867" y="1172964"/>
            <a:ext cx="20867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Challenges</a:t>
            </a:r>
            <a:endParaRPr lang="en-US" sz="20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6867" y="1590180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9006" y="1616225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8907" y="1637904"/>
            <a:ext cx="3572967" cy="21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Missing Website Documentation</a:t>
            </a:r>
            <a:endParaRPr lang="en-US" sz="20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8907" y="1994396"/>
            <a:ext cx="4987429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6867" y="2495154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006" y="2521199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0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8907" y="2542877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Human Verification Blocking Selenium Automation</a:t>
            </a:r>
            <a:endParaRPr lang="en-US" sz="20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8907" y="3116759"/>
            <a:ext cx="4987429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6867" y="3617516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9006" y="3643561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0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8907" y="3665240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Different screen resolutions, which caused layout shifts and element position changes.</a:t>
            </a:r>
            <a:endParaRPr lang="en-US" sz="20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8907" y="4239121"/>
            <a:ext cx="4987429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6867" y="4739879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9006" y="4765924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0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8907" y="4787603"/>
            <a:ext cx="4261148" cy="21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Scheduling &amp; Collaboration Limitations</a:t>
            </a:r>
            <a:endParaRPr lang="en-US" sz="20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8907" y="5144095"/>
            <a:ext cx="4987429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6867" y="5644853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9006" y="5670898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20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8907" y="5692577"/>
            <a:ext cx="2476599" cy="21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API Testing Challenges</a:t>
            </a:r>
            <a:endParaRPr lang="en-US" sz="20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8907" y="6049069"/>
            <a:ext cx="4987429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72015" y="1172964"/>
            <a:ext cx="20867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Solutions</a:t>
            </a:r>
            <a:endParaRPr lang="en-US" sz="200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72015" y="1590180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24153" y="1616225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0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24056" y="1637903"/>
            <a:ext cx="4987429" cy="6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Performed exploratory analysis and created our own internal documentation for unclear flows</a:t>
            </a:r>
            <a:endParaRPr lang="en-US" sz="200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72015" y="2568278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24153" y="2594323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0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24056" y="2616002"/>
            <a:ext cx="4987429" cy="6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Used a local OpenCart environment to bypass CAPTCHA and ensure stable automation</a:t>
            </a:r>
            <a:endParaRPr lang="en-US" sz="2000" dirty="0">
              <a:latin typeface="+mj-l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72015" y="3546376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24153" y="3572421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000" dirty="0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24056" y="3594100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standardized browser window size across the team</a:t>
            </a:r>
            <a:endParaRPr lang="en-US" sz="2000" dirty="0">
              <a:latin typeface="+mj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72015" y="4307086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24153" y="4333131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000" dirty="0">
              <a:latin typeface="+mj-lt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24056" y="4354810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Coordinated meeting times through shared availability slots and async communication</a:t>
            </a:r>
            <a:endParaRPr lang="en-US" sz="2000" dirty="0">
              <a:latin typeface="+mj-lt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72015" y="5067796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24153" y="5093841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2000" dirty="0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24056" y="5115520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Added detailed logs, manually checked API responses, and documented all API issues</a:t>
            </a:r>
            <a:endParaRPr lang="en-US" sz="2000" dirty="0">
              <a:latin typeface="+mj-lt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72015" y="5828507"/>
            <a:ext cx="312936" cy="312936"/>
          </a:xfrm>
          <a:prstGeom prst="roundRect">
            <a:avLst>
              <a:gd name="adj" fmla="val 6668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24153" y="5854551"/>
            <a:ext cx="208657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6</a:t>
            </a:r>
            <a:endParaRPr lang="en-US" sz="2000" dirty="0">
              <a:latin typeface="+mj-lt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24056" y="5876231"/>
            <a:ext cx="4987429" cy="43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E5E0DF"/>
                </a:solidFill>
                <a:latin typeface="+mj-lt"/>
                <a:ea typeface="Unbounded Bold" pitchFamily="34" charset="-122"/>
                <a:cs typeface="Unbounded Bold" pitchFamily="34" charset="-120"/>
              </a:rPr>
              <a:t>Created our own API documentation to clarify missing or unclear endpoints</a:t>
            </a:r>
            <a:endParaRPr lang="en-US" sz="2000" dirty="0">
              <a:latin typeface="+mj-lt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88076B-2D5B-7339-A271-7C09A5943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143" y="6422572"/>
            <a:ext cx="1505858" cy="346342"/>
          </a:xfrm>
          <a:prstGeom prst="rect">
            <a:avLst/>
          </a:prstGeom>
        </p:spPr>
      </p:pic>
      <p:pic>
        <p:nvPicPr>
          <p:cNvPr id="44" name="Picture 4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5A63156-71BB-C3CC-47D6-790C4D9E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CCDD5B-0473-B693-2659-A2D70A1F9EDC}"/>
              </a:ext>
            </a:extLst>
          </p:cNvPr>
          <p:cNvSpPr txBox="1"/>
          <p:nvPr/>
        </p:nvSpPr>
        <p:spPr>
          <a:xfrm>
            <a:off x="2780609" y="305784"/>
            <a:ext cx="7028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Documentation For Project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B73EE-D114-76B6-6A95-6DE2D3772AAC}"/>
              </a:ext>
            </a:extLst>
          </p:cNvPr>
          <p:cNvSpPr txBox="1"/>
          <p:nvPr/>
        </p:nvSpPr>
        <p:spPr>
          <a:xfrm>
            <a:off x="418407" y="1538136"/>
            <a:ext cx="1135518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URL web site </a:t>
            </a:r>
          </a:p>
          <a:p>
            <a:r>
              <a:rPr lang="en-US" sz="2800" dirty="0">
                <a:solidFill>
                  <a:schemeClr val="bg1"/>
                </a:solidFill>
                <a:hlinkClick r:id="rId3"/>
              </a:rPr>
              <a:t>https://www.opencart.com/index.php?route=cms/demo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URL test API postman</a:t>
            </a:r>
          </a:p>
          <a:p>
            <a:r>
              <a:rPr lang="en-US" sz="2800" dirty="0">
                <a:solidFill>
                  <a:schemeClr val="bg1"/>
                </a:solidFill>
                <a:hlinkClick r:id="rId4"/>
              </a:rPr>
              <a:t>https://app.getpostman.com/join-team?invite_code=89e4f3c752dd7b11a0817c3d275a9c529294b8722f8a7bbb3d7a70af5b0450a7&amp;target_code=15721fbafa50c5e2b6b620d43a5a83e4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URL Jira project </a:t>
            </a:r>
          </a:p>
          <a:p>
            <a:r>
              <a:rPr lang="en-US" sz="2800" dirty="0">
                <a:hlinkClick r:id="rId5"/>
              </a:rPr>
              <a:t>Summary - </a:t>
            </a:r>
            <a:r>
              <a:rPr lang="en-US" sz="2800" dirty="0" err="1">
                <a:hlinkClick r:id="rId5"/>
              </a:rPr>
              <a:t>Opencart</a:t>
            </a:r>
            <a:r>
              <a:rPr lang="en-US" sz="2800" dirty="0">
                <a:hlinkClick r:id="rId5"/>
              </a:rPr>
              <a:t> - Jira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URL Repo for GitHub Project </a:t>
            </a:r>
          </a:p>
          <a:p>
            <a:r>
              <a:rPr lang="en-US" sz="2800" dirty="0" err="1">
                <a:hlinkClick r:id="rId6"/>
              </a:rPr>
              <a:t>RewanAbdulkariem</a:t>
            </a:r>
            <a:r>
              <a:rPr lang="en-US" sz="2800" dirty="0">
                <a:hlinkClick r:id="rId6"/>
              </a:rPr>
              <a:t>/DEPI-Final-Project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669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F6F7B53-6E05-6DF4-7E94-E580E0D17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143" y="6422572"/>
            <a:ext cx="1505858" cy="346342"/>
          </a:xfrm>
          <a:prstGeom prst="rect">
            <a:avLst/>
          </a:prstGeom>
        </p:spPr>
      </p:pic>
      <p:pic>
        <p:nvPicPr>
          <p:cNvPr id="12" name="Picture 11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75399B7C-A61D-E8E1-D8C3-0904CCC58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688" y="141934"/>
            <a:ext cx="822960" cy="7565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060CC6-B32F-88EF-4AEC-EF6BCE28FE2C}"/>
              </a:ext>
            </a:extLst>
          </p:cNvPr>
          <p:cNvSpPr txBox="1"/>
          <p:nvPr/>
        </p:nvSpPr>
        <p:spPr>
          <a:xfrm>
            <a:off x="2636846" y="2364621"/>
            <a:ext cx="60932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THANKS!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2F417-D9E3-0523-3F29-A209091BF9FB}"/>
              </a:ext>
            </a:extLst>
          </p:cNvPr>
          <p:cNvSpPr txBox="1"/>
          <p:nvPr/>
        </p:nvSpPr>
        <p:spPr>
          <a:xfrm>
            <a:off x="3049386" y="3939381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Do you have any questions?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780</Words>
  <Application>Microsoft Office PowerPoint</Application>
  <PresentationFormat>Widescreen</PresentationFormat>
  <Paragraphs>191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ADLaM Display</vt:lpstr>
      <vt:lpstr>Aptos</vt:lpstr>
      <vt:lpstr>Aptos Display</vt:lpstr>
      <vt:lpstr>Arial</vt:lpstr>
      <vt:lpstr>Open Sans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NewVision</dc:creator>
  <cp:lastModifiedBy>Amr Khaled Abdelkariem</cp:lastModifiedBy>
  <cp:revision>7</cp:revision>
  <dcterms:created xsi:type="dcterms:W3CDTF">2025-12-07T15:08:43Z</dcterms:created>
  <dcterms:modified xsi:type="dcterms:W3CDTF">2025-12-07T19:51:40Z</dcterms:modified>
</cp:coreProperties>
</file>